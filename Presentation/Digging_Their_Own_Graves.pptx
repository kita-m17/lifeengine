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91440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UCT HONOURS · ARTIFICIAL LIFE · LIFE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7239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>
                <a:solidFill>
                  <a:srgbClr val="E6EDF3"/>
                </a:solidFill>
                <a:latin typeface="Courier New"/>
              </a:rPr>
              <a:t>DIGGING</a:t>
            </a:r>
          </a:p>
          <a:p>
            <a:pPr algn="l">
              <a:lnSpc>
                <a:spcPct val="95000"/>
              </a:lnSpc>
            </a:pPr>
            <a:r>
              <a:rPr sz="5800" b="1" i="0">
                <a:solidFill>
                  <a:srgbClr val="E6EDF3"/>
                </a:solidFill>
                <a:latin typeface="Courier New"/>
              </a:rPr>
              <a:t>THEIR OWN</a:t>
            </a:r>
          </a:p>
          <a:p>
            <a:pPr algn="l">
              <a:lnSpc>
                <a:spcPct val="95000"/>
              </a:lnSpc>
            </a:pPr>
            <a:r>
              <a:rPr sz="5800" b="1" i="0">
                <a:solidFill>
                  <a:srgbClr val="E6EDF3"/>
                </a:solidFill>
                <a:latin typeface="Courier New"/>
              </a:rPr>
              <a:t>GRAVES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05250"/>
            <a:ext cx="7048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9D3DD"/>
                </a:solidFill>
                <a:latin typeface="Arial"/>
              </a:rPr>
              <a:t>Burrowing, soil and extinction: can a trait that saves each individual doom the population?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7675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0" y="2114550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15D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53350" y="1485900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15D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7550" y="24955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5DE59"/>
                </a:solidFill>
                <a:latin typeface="Courier New"/>
              </a:rPr>
              <a:t>PLANT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58325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72650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92665" y="1843087"/>
            <a:ext cx="45720" cy="20002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58325" y="1485900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58325" y="2114550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4955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BURROWER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77587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177587" y="1485900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F82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7587" y="2114550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63262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48937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8952" y="1843087"/>
            <a:ext cx="45720" cy="20002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1912" y="1800225"/>
            <a:ext cx="285750" cy="2857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11927" y="1843087"/>
            <a:ext cx="45720" cy="20002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0300" y="24955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2380"/>
                </a:solidFill>
                <a:latin typeface="Courier New"/>
              </a:rPr>
              <a:t>PREDATOR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8A6A"/>
                </a:solidFill>
                <a:latin typeface="Arial"/>
              </a:rPr>
              <a:t>Group final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A88A6A"/>
                </a:solidFill>
                <a:latin typeface="Courier New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THE ORGANISM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A world of cells, soil and one new trait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00200"/>
            <a:ext cx="6286500" cy="409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Arial"/>
              </a:rPr>
              <a:t>Organisms are built from cells.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Each cell type does one job, and offspring mutate by adding, removing or changing a cell.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DEB14D"/>
                </a:solidFill>
                <a:latin typeface="Arial"/>
              </a:rPr>
              <a:t>Soil fertility.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Plants are only born where the soil under them averages at least 7 of 10. Unoccupied soil slowly regains fertility.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FF6B35"/>
                </a:solidFill>
                <a:latin typeface="Arial"/>
              </a:rPr>
              <a:t>The claw cell.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A prey with a claw that sees a predator </a:t>
            </a:r>
            <a:r>
              <a:rPr sz="1900" b="1" i="0">
                <a:solidFill>
                  <a:srgbClr val="E6EDF3"/>
                </a:solidFill>
                <a:latin typeface="Arial"/>
              </a:rPr>
              <a:t>burrows</a:t>
            </a:r>
            <a:r>
              <a:rPr sz="1900" b="0" i="0">
                <a:solidFill>
                  <a:srgbClr val="E6EDF3"/>
                </a:solidFill>
                <a:latin typeface="Arial"/>
              </a:rPr>
              <a:t>: it is invisible for 100 ticks and doesn't age, but each burrow strips 10 fertility from the soil under it.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Arial"/>
              </a:rPr>
              <a:t>Roles come from the body.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A killer cell and no producer makes a </a:t>
            </a:r>
            <a:r>
              <a:rPr sz="1900" b="0" i="0">
                <a:solidFill>
                  <a:srgbClr val="F82380"/>
                </a:solidFill>
                <a:latin typeface="Arial"/>
              </a:rPr>
              <a:t>predator</a:t>
            </a:r>
            <a:r>
              <a:rPr sz="1900" b="0" i="0">
                <a:solidFill>
                  <a:srgbClr val="E6EDF3"/>
                </a:solidFill>
                <a:latin typeface="Arial"/>
              </a:rPr>
              <a:t>; a producer that can't move is a </a:t>
            </a:r>
            <a:r>
              <a:rPr sz="1900" b="0" i="0">
                <a:solidFill>
                  <a:srgbClr val="15DE59"/>
                </a:solidFill>
                <a:latin typeface="Arial"/>
              </a:rPr>
              <a:t>plant</a:t>
            </a:r>
            <a:r>
              <a:rPr sz="1900" b="0" i="0">
                <a:solidFill>
                  <a:srgbClr val="E6EDF3"/>
                </a:solidFill>
                <a:latin typeface="Arial"/>
              </a:rPr>
              <a:t>; everything else is </a:t>
            </a:r>
            <a:r>
              <a:rPr sz="1900" b="0" i="0">
                <a:solidFill>
                  <a:srgbClr val="60D4FF"/>
                </a:solidFill>
                <a:latin typeface="Arial"/>
              </a:rPr>
              <a:t>prey</a:t>
            </a:r>
            <a:r>
              <a:rPr sz="1900" b="0" i="0">
                <a:solidFill>
                  <a:srgbClr val="E6EDF3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5962650"/>
            <a:ext cx="133350" cy="133350"/>
          </a:xfrm>
          <a:prstGeom prst="roundRect">
            <a:avLst/>
          </a:prstGeom>
          <a:solidFill>
            <a:srgbClr val="15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producer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7350" y="5962650"/>
            <a:ext cx="133350" cy="133350"/>
          </a:xfrm>
          <a:prstGeom prst="roundRect">
            <a:avLst/>
          </a:prstGeom>
          <a:solidFill>
            <a:srgbClr val="DE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85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mouth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6500" y="5962650"/>
            <a:ext cx="133350" cy="133350"/>
          </a:xfrm>
          <a:prstGeom prst="roundRect">
            <a:avLst/>
          </a:prstGeom>
          <a:solidFill>
            <a:srgbClr val="6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700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mover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5650" y="5962650"/>
            <a:ext cx="133350" cy="133350"/>
          </a:xfrm>
          <a:prstGeom prst="roundRect">
            <a:avLst/>
          </a:prstGeom>
          <a:solidFill>
            <a:srgbClr val="B6C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615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eye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2400" y="5962650"/>
            <a:ext cx="133350" cy="133350"/>
          </a:xfrm>
          <a:prstGeom prst="roundRect">
            <a:avLst/>
          </a:prstGeom>
          <a:solidFill>
            <a:srgbClr val="F8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290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killer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7750" y="5962650"/>
            <a:ext cx="133350" cy="13335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825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claw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700" y="5962650"/>
            <a:ext cx="133350" cy="133350"/>
          </a:xfrm>
          <a:prstGeom prst="roundRect">
            <a:avLst/>
          </a:prstGeom>
          <a:solidFill>
            <a:srgbClr val="2F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1200" y="5934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food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4250" y="2095500"/>
            <a:ext cx="4248150" cy="32385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4850" y="266700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62975" y="2905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15D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6725" y="24288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15D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6625" y="3209925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5DE59"/>
                </a:solidFill>
                <a:latin typeface="Courier New"/>
              </a:rPr>
              <a:t>PLANT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6625" y="3419475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makes food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2725" y="2905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10850" y="2905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861" y="2936557"/>
            <a:ext cx="33528" cy="14668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72725" y="266700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34600" y="2905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4500" y="3209925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0D4FF"/>
                </a:solidFill>
                <a:latin typeface="Courier New"/>
              </a:rPr>
              <a:t>PREY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4500" y="3419475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eats food, flees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4850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62975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50986" y="4174807"/>
            <a:ext cx="33528" cy="14668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24850" y="390525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86725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24850" y="438150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86625" y="46863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CLAWED PREY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6625" y="48958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can burrow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91787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91787" y="390525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82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491787" y="438150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53662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15537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03548" y="4174807"/>
            <a:ext cx="33528" cy="14668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729912" y="414337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17923" y="4174807"/>
            <a:ext cx="33528" cy="14668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34500" y="46863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2380"/>
                </a:solidFill>
                <a:latin typeface="Courier New"/>
              </a:rPr>
              <a:t>PREDATOR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4500" y="48958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eats prey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Starting organisms as built in the simulator (cell layouts from RandomOrganismGenerator)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THE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Evolutionary suicide: when adaptation </a:t>
            </a:r>
            <a:r>
              <a:rPr sz="3200" b="1" i="0">
                <a:solidFill>
                  <a:srgbClr val="FF6B35"/>
                </a:solidFill>
                <a:latin typeface="Arial"/>
              </a:rPr>
              <a:t>causes</a:t>
            </a:r>
            <a:r>
              <a:rPr sz="3200" b="1" i="0">
                <a:solidFill>
                  <a:srgbClr val="E6EDF3"/>
                </a:solidFill>
                <a:latin typeface="Arial"/>
              </a:rPr>
              <a:t> extinction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524000"/>
            <a:ext cx="55245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6EDF3"/>
                </a:solidFill>
                <a:latin typeface="Arial"/>
              </a:rPr>
              <a:t>Natural selection favours whatever helps individuals leave more offspring, </a:t>
            </a:r>
            <a:r>
              <a:rPr sz="1900" b="1" i="0">
                <a:solidFill>
                  <a:srgbClr val="E6EDF3"/>
                </a:solidFill>
                <a:latin typeface="Arial"/>
              </a:rPr>
              <a:t>even when it harms the population</a:t>
            </a:r>
            <a:r>
              <a:rPr sz="1900" b="0" i="0">
                <a:solidFill>
                  <a:srgbClr val="E6EDF3"/>
                </a:solidFill>
                <a:latin typeface="Arial"/>
              </a:rPr>
              <a:t>. If a favoured trait degrades something everyone depends on, selection can drive its own carriers extinct.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38500"/>
            <a:ext cx="5524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8A8"/>
                </a:solidFill>
                <a:latin typeface="Arial"/>
              </a:rPr>
              <a:t>Gyllenberg &amp; Parvinen (2001), </a:t>
            </a:r>
            <a:r>
              <a:rPr sz="1300" b="0" i="1">
                <a:solidFill>
                  <a:srgbClr val="8B98A8"/>
                </a:solidFill>
                <a:latin typeface="Arial"/>
              </a:rPr>
              <a:t>Bull. Math. Biol.</a:t>
            </a:r>
            <a:r>
              <a:rPr sz="1300" b="0" i="0">
                <a:solidFill>
                  <a:srgbClr val="8B98A8"/>
                </a:solidFill>
                <a:latin typeface="Arial"/>
              </a:rPr>
              <a:t>; Rankin &amp; López-Sepulcre (2005), </a:t>
            </a:r>
            <a:r>
              <a:rPr sz="1300" b="0" i="1">
                <a:solidFill>
                  <a:srgbClr val="8B98A8"/>
                </a:solidFill>
                <a:latin typeface="Arial"/>
              </a:rPr>
              <a:t>Oikos</a:t>
            </a:r>
            <a:r>
              <a:rPr sz="1300" b="0" i="0">
                <a:solidFill>
                  <a:srgbClr val="8B98A8"/>
                </a:solidFill>
                <a:latin typeface="Arial"/>
              </a:rPr>
              <a:t>, "Can adaptation lead to extinction?"; Hardin (1968), "The tragedy of the commons", </a:t>
            </a:r>
            <a:r>
              <a:rPr sz="1300" b="0" i="1">
                <a:solidFill>
                  <a:srgbClr val="8B98A8"/>
                </a:solidFill>
                <a:latin typeface="Arial"/>
              </a:rPr>
              <a:t>Science</a:t>
            </a:r>
            <a:r>
              <a:rPr sz="1300" b="0" i="0">
                <a:solidFill>
                  <a:srgbClr val="8B98A8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095750"/>
            <a:ext cx="5524500" cy="180975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428625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DEB14D"/>
                </a:solidFill>
                <a:latin typeface="Arial"/>
              </a:rPr>
              <a:t>A real echo: burrowers reshape soil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648200"/>
            <a:ext cx="5143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Burrowing animals are ecosystem engineers. Introduced European rabbits in Australia, for example, burrow and graze so heavily that they strip vegetation and drive soil erosion.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5100" y="1524000"/>
            <a:ext cx="5067300" cy="43815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4650" y="17145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6EDF3"/>
                </a:solidFill>
                <a:latin typeface="Arial"/>
              </a:rPr>
              <a:t>Our hypothesis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4650" y="2152650"/>
            <a:ext cx="4648200" cy="666750"/>
          </a:xfrm>
          <a:prstGeom prst="roundRect">
            <a:avLst>
              <a:gd name="adj" fmla="val 10000"/>
            </a:avLst>
          </a:prstGeom>
          <a:solidFill>
            <a:srgbClr val="0E1318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7050" y="22479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1 · INDIVIDUAL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050" y="247650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EDF3"/>
                </a:solidFill>
                <a:latin typeface="Arial"/>
              </a:rPr>
              <a:t>Burrowing hides a prey from predators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4650" y="2895600"/>
            <a:ext cx="4648200" cy="666750"/>
          </a:xfrm>
          <a:prstGeom prst="roundRect">
            <a:avLst>
              <a:gd name="adj" fmla="val 10000"/>
            </a:avLst>
          </a:prstGeom>
          <a:solidFill>
            <a:srgbClr val="0E1318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7050" y="299085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2 ·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050" y="321945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EDF3"/>
                </a:solidFill>
                <a:latin typeface="Arial"/>
              </a:rPr>
              <a:t>Claws spread through the prey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4650" y="3638550"/>
            <a:ext cx="4648200" cy="666750"/>
          </a:xfrm>
          <a:prstGeom prst="roundRect">
            <a:avLst>
              <a:gd name="adj" fmla="val 10000"/>
            </a:avLst>
          </a:prstGeom>
          <a:solidFill>
            <a:srgbClr val="0E1318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7050" y="37338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3 · SHARED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7050" y="396240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EDF3"/>
                </a:solidFill>
                <a:latin typeface="Arial"/>
              </a:rPr>
              <a:t>Every burrow drains the soil plants need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4650" y="4381500"/>
            <a:ext cx="4648200" cy="666750"/>
          </a:xfrm>
          <a:prstGeom prst="roundRect">
            <a:avLst>
              <a:gd name="adj" fmla="val 10000"/>
            </a:avLst>
          </a:prstGeom>
          <a:solidFill>
            <a:srgbClr val="0E1318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7050" y="447675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4 · COLLAPSE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7050" y="470535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EDF3"/>
                </a:solidFill>
                <a:latin typeface="Arial"/>
              </a:rPr>
              <a:t>Plants fail, food runs out, burrowers die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219700"/>
            <a:ext cx="4648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B98A8"/>
                </a:solidFill>
                <a:latin typeface="Arial"/>
              </a:rPr>
              <a:t>The test: does the population survive </a:t>
            </a:r>
            <a:r>
              <a:rPr sz="1500" b="1" i="0">
                <a:solidFill>
                  <a:srgbClr val="8B98A8"/>
                </a:solidFill>
                <a:latin typeface="Arial"/>
              </a:rPr>
              <a:t>without</a:t>
            </a:r>
            <a:r>
              <a:rPr sz="1500" b="0" i="0">
                <a:solidFill>
                  <a:srgbClr val="8B98A8"/>
                </a:solidFill>
                <a:latin typeface="Arial"/>
              </a:rPr>
              <a:t> the trait, and only collapse </a:t>
            </a:r>
            <a:r>
              <a:rPr sz="1500" b="1" i="0">
                <a:solidFill>
                  <a:srgbClr val="8B98A8"/>
                </a:solidFill>
                <a:latin typeface="Arial"/>
              </a:rPr>
              <a:t>with</a:t>
            </a:r>
            <a:r>
              <a:rPr sz="1500" b="0" i="0">
                <a:solidFill>
                  <a:srgbClr val="8B98A8"/>
                </a:solidFill>
                <a:latin typeface="Arial"/>
              </a:rPr>
              <a:t>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Mis-adaptation = a trait that is favoured yet ruinous · failure to adapt = no suitable trait in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Nearly 2,000 simulations, run like a field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09750"/>
            <a:ext cx="62865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Arial"/>
              </a:rPr>
              <a:t>Same code, no screen.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A headless runner drives the simulator's own code, so hundreds of runs go in parallel.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Arial"/>
              </a:rPr>
              <a:t>Seeded layouts, random lives.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Soil and starting positions come from seeds; everything after that is stochastic, so replicates differ.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Arial"/>
              </a:rPr>
              <a:t>Controls, like knockout experiments: </a:t>
            </a:r>
            <a:r>
              <a:rPr sz="1900" b="0" i="0">
                <a:solidFill>
                  <a:srgbClr val="E6EDF3"/>
                </a:solidFill>
                <a:latin typeface="Arial"/>
              </a:rPr>
              <a:t>the same starting layouts with one thing changed.</a:t>
            </a:r>
          </a:p>
          <a:p>
            <a:pPr marL="38100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◦"/>
            </a:pPr>
            <a:r>
              <a:rPr sz="1700" b="0" i="0">
                <a:solidFill>
                  <a:srgbClr val="E6EDF3"/>
                </a:solidFill>
                <a:latin typeface="Arial"/>
              </a:rPr>
              <a:t>claws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seeded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at the start, or left to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evolve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by mutation</a:t>
            </a:r>
          </a:p>
          <a:p>
            <a:pPr marL="38100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◦"/>
            </a:pPr>
            <a:r>
              <a:rPr sz="1700" b="0" i="0">
                <a:solidFill>
                  <a:srgbClr val="E6EDF3"/>
                </a:solidFill>
                <a:latin typeface="Arial"/>
              </a:rPr>
              <a:t>burrowing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switched off</a:t>
            </a:r>
            <a:r>
              <a:rPr sz="1700" b="0" i="0">
                <a:solidFill>
                  <a:srgbClr val="E6EDF3"/>
                </a:solidFill>
                <a:latin typeface="Arial"/>
              </a:rPr>
              <a:t>, or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harmless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to the soil</a:t>
            </a:r>
          </a:p>
          <a:p>
            <a:pPr marL="38100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◦"/>
            </a:pPr>
            <a:r>
              <a:rPr sz="1700" b="0" i="0">
                <a:solidFill>
                  <a:srgbClr val="E6EDF3"/>
                </a:solidFill>
                <a:latin typeface="Arial"/>
              </a:rPr>
              <a:t>soil density, patch size, regrowth; predator strength; plant regrowth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4250" y="1866900"/>
            <a:ext cx="4248150" cy="38100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4750" y="2038350"/>
            <a:ext cx="8001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98A8"/>
                </a:solidFill>
                <a:latin typeface="Arial"/>
              </a:rPr>
              <a:t>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4850" y="20383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98A8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0" y="2038350"/>
            <a:ext cx="628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8B98A8"/>
                </a:solidFill>
                <a:latin typeface="Arial"/>
              </a:rPr>
              <a:t>Runs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24750" y="2305050"/>
            <a:ext cx="386715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24750" y="2381250"/>
            <a:ext cx="8001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Tarique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4850" y="23812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evolved claws, soil cost, predators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0" y="2381250"/>
            <a:ext cx="628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456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24750" y="2914650"/>
            <a:ext cx="386715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24750" y="2990850"/>
            <a:ext cx="8001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Nik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29908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evolved claws, soil settings,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0" y="2990850"/>
            <a:ext cx="628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170+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24750" y="3524250"/>
            <a:ext cx="386715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24750" y="3600450"/>
            <a:ext cx="8001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Jenna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4850" y="36004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plant regrowth, plant death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3600450"/>
            <a:ext cx="628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936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24750" y="4133850"/>
            <a:ext cx="386715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24750" y="4210050"/>
            <a:ext cx="8001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Josh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850" y="42100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seeded vs evolved claws, soil layouts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63250" y="4210050"/>
            <a:ext cx="628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380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0" y="51435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Plus browser runs. 100,000–250,000 ticks each. Proportions compared with Fisher's exact test.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Settings differ slightly between studies; each comparison is made within one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1 · DID AN EXTINCTION EVENT OCCUR?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Yes, at every level, and often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524000"/>
            <a:ext cx="4533900" cy="142875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657350"/>
            <a:ext cx="4152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2380"/>
                </a:solidFill>
                <a:latin typeface="Courier New"/>
              </a:rPr>
              <a:t>167/380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114550"/>
            <a:ext cx="4152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of our headless runs ended with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every organism dead</a:t>
            </a:r>
            <a:r>
              <a:rPr sz="1500" b="0" i="0">
                <a:solidFill>
                  <a:srgbClr val="E6EDF3"/>
                </a:solidFill>
                <a:latin typeface="Arial"/>
              </a:rPr>
              <a:t>; in Nik's sweep, 111 of 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3105150"/>
            <a:ext cx="4533900" cy="142875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3238500"/>
            <a:ext cx="4152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6B35"/>
                </a:solidFill>
                <a:latin typeface="Courier New"/>
              </a:rPr>
              <a:t>21/40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695700"/>
            <a:ext cx="4152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runs where evolved claws took over and then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every prey died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(Tarique)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686300"/>
            <a:ext cx="4533900" cy="161925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4819650"/>
            <a:ext cx="4152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0D4FF"/>
                </a:solidFill>
                <a:latin typeface="Courier New"/>
              </a:rPr>
              <a:t>LINEAGES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276850"/>
            <a:ext cx="4152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The seeded predators died out in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every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batch run; seeded burrowing prey died out in every run with all the claw's benefits switched off</a:t>
            </a:r>
          </a:p>
        </p:txBody>
      </p:sp>
      <p:pic>
        <p:nvPicPr>
          <p:cNvPr id="14" name="Picture 13" descr="extinction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05000"/>
            <a:ext cx="6096000" cy="28436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0" y="4843854"/>
            <a:ext cx="609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When 160 worlds died (batches with seeded claws, 300 runs). Most die early, a few after 100k ticks of apparent stability.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Whole-world extinction usually ends with plants: with no animals to eat it, food piles up and blocks plant offspring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2 · MIS-ADAPTATION OR FAILURE TO ADAPT?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876300"/>
            <a:ext cx="167259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F82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82380"/>
                </a:solidFill>
                <a:latin typeface="Courier New"/>
              </a:rPr>
              <a:t>FAILURE TO 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5540" y="781050"/>
            <a:ext cx="880491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6EDF3"/>
                </a:solidFill>
                <a:latin typeface="Arial"/>
              </a:rPr>
              <a:t>Most worlds die before evolution can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09750"/>
            <a:ext cx="4476750" cy="419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800" b="1" i="0">
                <a:solidFill>
                  <a:srgbClr val="E6EDF3"/>
                </a:solidFill>
                <a:latin typeface="Arial"/>
              </a:rPr>
              <a:t>The first predator wave.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Seeded predators feed on the first prey boom, multiply about 25×, and overshoot.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800" b="1" i="0">
                <a:solidFill>
                  <a:srgbClr val="E6EDF3"/>
                </a:solidFill>
                <a:latin typeface="Arial"/>
              </a:rPr>
              <a:t>88 of 160</a:t>
            </a:r>
            <a:r>
              <a:rPr sz="1800" b="0" i="0">
                <a:solidFill>
                  <a:srgbClr val="E6EDF3"/>
                </a:solidFill>
                <a:latin typeface="Arial"/>
              </a:rPr>
              <a:t> world extinctions came before 30,000 ticks. When the prey died, </a:t>
            </a:r>
            <a:r>
              <a:rPr sz="1800" b="1" i="0">
                <a:solidFill>
                  <a:srgbClr val="E6EDF3"/>
                </a:solidFill>
                <a:latin typeface="Arial"/>
              </a:rPr>
              <a:t>82%</a:t>
            </a:r>
            <a:r>
              <a:rPr sz="1800" b="0" i="0">
                <a:solidFill>
                  <a:srgbClr val="E6EDF3"/>
                </a:solidFill>
                <a:latin typeface="Arial"/>
              </a:rPr>
              <a:t> of predators were still the seeded ones.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800" b="0" i="0">
                <a:solidFill>
                  <a:srgbClr val="E6EDF3"/>
                </a:solidFill>
                <a:latin typeface="Arial"/>
              </a:rPr>
              <a:t>Claws appear within ~1,200 ticks, but prey were usually gone by </a:t>
            </a:r>
            <a:r>
              <a:rPr sz="1800" b="1" i="0">
                <a:solidFill>
                  <a:srgbClr val="E6EDF3"/>
                </a:solidFill>
                <a:latin typeface="Arial"/>
              </a:rPr>
              <a:t>5,500</a:t>
            </a:r>
            <a:r>
              <a:rPr sz="1800" b="0" i="0">
                <a:solidFill>
                  <a:srgbClr val="E6EDF3"/>
                </a:solidFill>
                <a:latin typeface="Arial"/>
              </a:rPr>
              <a:t>, while claws were on only ~4% of them (Nik).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Clr>
                <a:srgbClr val="8B98A8"/>
              </a:buClr>
              <a:buFont typeface="Arial"/>
              <a:buChar char="•"/>
            </a:pPr>
            <a:r>
              <a:rPr sz="1800" b="0" i="0">
                <a:solidFill>
                  <a:srgbClr val="E6EDF3"/>
                </a:solidFill>
                <a:latin typeface="Arial"/>
              </a:rPr>
              <a:t>With all the claw's benefits off, the seeded burrowers bred at half the rate of other prey and were the first to vanish.</a:t>
            </a:r>
          </a:p>
        </p:txBody>
      </p:sp>
      <p:pic>
        <p:nvPicPr>
          <p:cNvPr id="7" name="Picture 6" descr="early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0" y="2190750"/>
            <a:ext cx="6191250" cy="2820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106737"/>
            <a:ext cx="6191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Browser run, claw benefits off: </a:t>
            </a:r>
            <a:r>
              <a:rPr sz="1200" b="0" i="0">
                <a:solidFill>
                  <a:srgbClr val="F82380"/>
                </a:solidFill>
                <a:latin typeface="Arial"/>
              </a:rPr>
              <a:t>predators</a:t>
            </a:r>
            <a:r>
              <a:rPr sz="1200" b="0" i="0">
                <a:solidFill>
                  <a:srgbClr val="8B98A8"/>
                </a:solidFill>
                <a:latin typeface="Arial"/>
              </a:rPr>
              <a:t> boom and the </a:t>
            </a:r>
            <a:r>
              <a:rPr sz="1200" b="0" i="0">
                <a:solidFill>
                  <a:srgbClr val="FF6B35"/>
                </a:solidFill>
                <a:latin typeface="Arial"/>
              </a:rPr>
              <a:t>clawed prey</a:t>
            </a:r>
            <a:r>
              <a:rPr sz="1200" b="0" i="0">
                <a:solidFill>
                  <a:srgbClr val="8B98A8"/>
                </a:solidFill>
                <a:latin typeface="Arial"/>
              </a:rPr>
              <a:t> are gone by tick 4,000.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Ecological overshoot, not evolution: the prey had no time to adapt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2 · MIS-ADAPTATION OR FAILURE TO ADAPT?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876300"/>
            <a:ext cx="148971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6B35"/>
                </a:solidFill>
                <a:latin typeface="Courier New"/>
              </a:rPr>
              <a:t>MIS-ADAPTATION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2660" y="781050"/>
            <a:ext cx="898779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6EDF3"/>
                </a:solidFill>
                <a:latin typeface="Arial"/>
              </a:rPr>
              <a:t>Given time, the claw evolves, because it works</a:t>
            </a:r>
          </a:p>
        </p:txBody>
      </p:sp>
      <p:pic>
        <p:nvPicPr>
          <p:cNvPr id="6" name="Picture 5" descr="claw_sp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3" y="1428750"/>
            <a:ext cx="10719892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410200"/>
            <a:ext cx="5334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6EDF3"/>
                </a:solidFill>
                <a:latin typeface="Arial"/>
              </a:rPr>
              <a:t>No organism starts with a claw. </a:t>
            </a:r>
            <a:r>
              <a:rPr sz="1600" b="0" i="0">
                <a:solidFill>
                  <a:srgbClr val="E6EDF3"/>
                </a:solidFill>
                <a:latin typeface="Arial"/>
              </a:rPr>
              <a:t>It appears by mutation in </a:t>
            </a:r>
            <a:r>
              <a:rPr sz="1600" b="1" i="0">
                <a:solidFill>
                  <a:srgbClr val="E6EDF3"/>
                </a:solidFill>
                <a:latin typeface="Arial"/>
              </a:rPr>
              <a:t>every run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(80 of 80), within a median of about 1,000 ticks.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5410200"/>
            <a:ext cx="529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6EDF3"/>
                </a:solidFill>
                <a:latin typeface="Arial"/>
              </a:rPr>
              <a:t>It spreads only when burrowing works: </a:t>
            </a:r>
            <a:r>
              <a:rPr sz="1600" b="0" i="0">
                <a:solidFill>
                  <a:srgbClr val="E6EDF3"/>
                </a:solidFill>
                <a:latin typeface="Arial"/>
              </a:rPr>
              <a:t>7/10 take-overs against 1/10 when claws cost food (p = 0.02), 10/10 against 2/10 when free (p = 0.0007). Selection favours the claw </a:t>
            </a:r>
            <a:r>
              <a:rPr sz="1600" b="0" i="1">
                <a:solidFill>
                  <a:srgbClr val="E6EDF3"/>
                </a:solidFill>
                <a:latin typeface="Arial"/>
              </a:rPr>
              <a:t>for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burrowing.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Josh's claw-evolution batch · 10 runs per setup · predator lifespan multiplier 2 · bands are ±1 std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2 · MIS-ADAPTATION OR FAILURE TO ADAPT?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876300"/>
            <a:ext cx="148971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6B35"/>
                </a:solidFill>
                <a:latin typeface="Courier New"/>
              </a:rPr>
              <a:t>MIS-ADAPTATION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2660" y="781050"/>
            <a:ext cx="898779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6EDF3"/>
                </a:solidFill>
                <a:latin typeface="Arial"/>
              </a:rPr>
              <a:t>…and then the burrowers dig their own grave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428750"/>
            <a:ext cx="2137410" cy="80010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524000"/>
            <a:ext cx="19088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1733550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EDF3"/>
                </a:solidFill>
                <a:latin typeface="Arial"/>
              </a:rPr>
              <a:t>Evolved claws take over the prey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4160" y="1428750"/>
            <a:ext cx="2137410" cy="80010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8460" y="1524000"/>
            <a:ext cx="19088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8K → 15K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8460" y="1733550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EDF3"/>
                </a:solidFill>
                <a:latin typeface="Arial"/>
              </a:rPr>
              <a:t>Burrows drain the soil to 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8720" y="1428750"/>
            <a:ext cx="2137410" cy="80010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3020" y="1524000"/>
            <a:ext cx="19088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→ 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3020" y="1733550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EDF3"/>
                </a:solidFill>
                <a:latin typeface="Arial"/>
              </a:rPr>
              <a:t>Plants crash from 468 to 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3280" y="1428750"/>
            <a:ext cx="2137410" cy="80010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07580" y="1524000"/>
            <a:ext cx="19088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→ 57K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7580" y="1733550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EDF3"/>
                </a:solidFill>
                <a:latin typeface="Arial"/>
              </a:rPr>
              <a:t>Clawed prey dwindle and die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840" y="1428750"/>
            <a:ext cx="2137410" cy="80010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2140" y="1524000"/>
            <a:ext cx="19088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65K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2140" y="1733550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EDF3"/>
                </a:solidFill>
                <a:latin typeface="Arial"/>
              </a:rPr>
              <a:t>Nothing is left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2419350"/>
            <a:ext cx="4533900" cy="16764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2552700"/>
            <a:ext cx="4152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6B35"/>
                </a:solidFill>
                <a:latin typeface="Courier New"/>
              </a:rPr>
              <a:t>21/40 vs 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3009900"/>
            <a:ext cx="4152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prey extinct after claws took over, damaging vs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harmless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burrowing (Tarique, p = 0.00002). Without working claws, prey survived 17/20.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4248150"/>
            <a:ext cx="4533900" cy="15240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4381500"/>
            <a:ext cx="4152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6B35"/>
                </a:solidFill>
                <a:latin typeface="Courier New"/>
              </a:rPr>
              <a:t>11/11 vs 0/5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4838700"/>
            <a:ext cx="4152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burrower populations extinct after spreading, with vs without soil damage (Nik, p ≈ 0.0002).</a:t>
            </a:r>
          </a:p>
        </p:txBody>
      </p:sp>
      <p:pic>
        <p:nvPicPr>
          <p:cNvPr id="27" name="Picture 26" descr="collapse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2447832"/>
            <a:ext cx="6134100" cy="33720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One run (claws evolved, free, burrowing on). The soil recovers after the burrowers die, too late for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2 · MIS-ADAPTATION OR FAILURE TO ADAPT?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Both, depending on how far evolution 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66850"/>
            <a:ext cx="5295900" cy="302895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9150" y="1657350"/>
            <a:ext cx="167259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F82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82380"/>
                </a:solidFill>
                <a:latin typeface="Courier New"/>
              </a:rPr>
              <a:t>FAILURE TO ADAPT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0193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6EDF3"/>
                </a:solidFill>
                <a:latin typeface="Arial"/>
              </a:rPr>
              <a:t>The common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381250"/>
            <a:ext cx="4876800" cy="180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500"/>
              </a:spcAft>
              <a:buClr>
                <a:srgbClr val="8B98A8"/>
              </a:buClr>
              <a:buFont typeface="Arial"/>
              <a:buChar char="•"/>
            </a:pPr>
            <a:r>
              <a:rPr sz="1500" b="0" i="0">
                <a:solidFill>
                  <a:srgbClr val="E6EDF3"/>
                </a:solidFill>
                <a:latin typeface="Arial"/>
              </a:rPr>
              <a:t>Strong seeded predators, prey with no defence yet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  <a:buClr>
                <a:srgbClr val="8B98A8"/>
              </a:buClr>
              <a:buFont typeface="Arial"/>
              <a:buChar char="•"/>
            </a:pPr>
            <a:r>
              <a:rPr sz="1500" b="0" i="0">
                <a:solidFill>
                  <a:srgbClr val="E6EDF3"/>
                </a:solidFill>
                <a:latin typeface="Arial"/>
              </a:rPr>
              <a:t>Collapse within ~30k ticks, before the claw spreads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  <a:buClr>
                <a:srgbClr val="8B98A8"/>
              </a:buClr>
              <a:buFont typeface="Arial"/>
              <a:buChar char="•"/>
            </a:pPr>
            <a:r>
              <a:rPr sz="1500" b="0" i="0">
                <a:solidFill>
                  <a:srgbClr val="E6EDF3"/>
                </a:solidFill>
                <a:latin typeface="Arial"/>
              </a:rPr>
              <a:t>Happens just as often with burrowing switched off (Nik's controls)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0" y="1466850"/>
            <a:ext cx="5295900" cy="302895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6050" y="1657350"/>
            <a:ext cx="148971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6B35"/>
                </a:solidFill>
                <a:latin typeface="Courier New"/>
              </a:rPr>
              <a:t>MIS-ADAPTATION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20193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6EDF3"/>
                </a:solidFill>
                <a:latin typeface="Arial"/>
              </a:rPr>
              <a:t>Evolutionary suicide, when the claw gets a chance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2628900"/>
            <a:ext cx="4876800" cy="180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500"/>
              </a:spcAft>
              <a:buClr>
                <a:srgbClr val="8B98A8"/>
              </a:buClr>
              <a:buFont typeface="Arial"/>
              <a:buChar char="•"/>
            </a:pPr>
            <a:r>
              <a:rPr sz="1500" b="0" i="0">
                <a:solidFill>
                  <a:srgbClr val="E6EDF3"/>
                </a:solidFill>
                <a:latin typeface="Arial"/>
              </a:rPr>
              <a:t>The claw evolves and spreads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because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it protects (vs burrowing off)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  <a:buClr>
                <a:srgbClr val="8B98A8"/>
              </a:buClr>
              <a:buFont typeface="Arial"/>
              <a:buChar char="•"/>
            </a:pPr>
            <a:r>
              <a:rPr sz="1500" b="0" i="0">
                <a:solidFill>
                  <a:srgbClr val="E6EDF3"/>
                </a:solidFill>
                <a:latin typeface="Arial"/>
              </a:rPr>
              <a:t>It kills only when burrowing damages the soil (vs harmless burrowing)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  <a:buClr>
                <a:srgbClr val="8B98A8"/>
              </a:buClr>
              <a:buFont typeface="Arial"/>
              <a:buChar char="•"/>
            </a:pPr>
            <a:r>
              <a:rPr sz="1500" b="0" i="0">
                <a:solidFill>
                  <a:srgbClr val="E6EDF3"/>
                </a:solidFill>
                <a:latin typeface="Arial"/>
              </a:rPr>
              <a:t>Prey survive without the claw: the collapse is the trait's doing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648200"/>
            <a:ext cx="10972800" cy="16383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480060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82380"/>
                </a:solidFill>
                <a:latin typeface="Arial"/>
              </a:rPr>
              <a:t>A second, subtler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143500"/>
            <a:ext cx="105537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EDF3"/>
                </a:solidFill>
                <a:latin typeface="Arial"/>
              </a:rPr>
              <a:t>Clawed prey that grow a killer cell can become predators. In 9 of 22 late collapses, the predator that wiped out the prey had evolved </a:t>
            </a:r>
            <a:r>
              <a:rPr sz="1600" b="1" i="0">
                <a:solidFill>
                  <a:srgbClr val="E6EDF3"/>
                </a:solidFill>
                <a:latin typeface="Arial"/>
              </a:rPr>
              <a:t>from the prey's own lineage</a:t>
            </a:r>
            <a:r>
              <a:rPr sz="1600" b="0" i="0">
                <a:solidFill>
                  <a:srgbClr val="E6EDF3"/>
                </a:solidFill>
                <a:latin typeface="Arial"/>
              </a:rPr>
              <a:t>, and in about 10 a newly evolved predator spread and the world died within a few thousand ticks. Suggestive of evolutionary suicide, but not yet proven by replay.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Not yet measured: whether clawed prey still out-reproduce clawless prey as the population declines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3 · ENVIRONMENT VS THE INITIAL SEEDED SPECIES?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E6EDF3"/>
                </a:solidFill>
                <a:latin typeface="Arial"/>
              </a:rPr>
              <a:t>The seeded species decide </a:t>
            </a:r>
            <a:r>
              <a:rPr sz="2900" b="1" i="0">
                <a:solidFill>
                  <a:srgbClr val="FF6B35"/>
                </a:solidFill>
                <a:latin typeface="Arial"/>
              </a:rPr>
              <a:t>whether</a:t>
            </a:r>
            <a:r>
              <a:rPr sz="2900" b="1" i="0">
                <a:solidFill>
                  <a:srgbClr val="E6EDF3"/>
                </a:solidFill>
                <a:latin typeface="Arial"/>
              </a:rPr>
              <a:t> burrowers get a chance; the environment decides </a:t>
            </a:r>
            <a:r>
              <a:rPr sz="2900" b="1" i="0">
                <a:solidFill>
                  <a:srgbClr val="FF6B35"/>
                </a:solidFill>
                <a:latin typeface="Arial"/>
              </a:rPr>
              <a:t>what happens</a:t>
            </a:r>
            <a:r>
              <a:rPr sz="2900" b="1" i="0">
                <a:solidFill>
                  <a:srgbClr val="E6EDF3"/>
                </a:solidFill>
                <a:latin typeface="Arial"/>
              </a:rPr>
              <a:t> to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771650"/>
            <a:ext cx="148971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6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60D4FF"/>
                </a:solidFill>
                <a:latin typeface="Courier New"/>
              </a:rPr>
              <a:t>SEEDED SPECIES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1455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600"/>
              </a:spcAft>
              <a:buClr>
                <a:srgbClr val="8B98A8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Arial"/>
              </a:rPr>
              <a:t>Predator strength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sets the first wave: at lifespan ×3, predators killed all prey in 7/8 runs even without burrowing; ×2 lets prey survive (Tarique)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Clr>
                <a:srgbClr val="8B98A8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Arial"/>
              </a:rPr>
              <a:t>Seeding claws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lets prey skip the wait and survive the first wave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The seeded predators </a:t>
            </a:r>
            <a:r>
              <a:rPr sz="1600" b="1" i="0">
                <a:solidFill>
                  <a:srgbClr val="E6EDF3"/>
                </a:solidFill>
                <a:latin typeface="Arial"/>
              </a:rPr>
              <a:t>never last</a:t>
            </a:r>
            <a:r>
              <a:rPr sz="1600" b="0" i="0">
                <a:solidFill>
                  <a:srgbClr val="E6EDF3"/>
                </a:solidFill>
                <a:latin typeface="Arial"/>
              </a:rPr>
              <a:t>: evolved predators replace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476750"/>
            <a:ext cx="121539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15D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5DE59"/>
                </a:solidFill>
                <a:latin typeface="Courier New"/>
              </a:rPr>
              <a:t>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19650"/>
            <a:ext cx="4572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600"/>
              </a:spcAft>
              <a:buClr>
                <a:srgbClr val="8B98A8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Arial"/>
              </a:rPr>
              <a:t>Soil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density, patch size and regrowth (right)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Clr>
                <a:srgbClr val="8B98A8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Arial"/>
              </a:rPr>
              <a:t>Plant regrowth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rescues worlds from the claw (Jenna)</a:t>
            </a:r>
          </a:p>
          <a:p>
            <a:pPr marL="171450" indent="-171450">
              <a:lnSpc>
                <a:spcPct val="112000"/>
              </a:lnSpc>
              <a:spcAft>
                <a:spcPts val="600"/>
              </a:spcAft>
              <a:buClr>
                <a:srgbClr val="8B98A8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Arial"/>
              </a:rPr>
              <a:t>Map luck</a:t>
            </a:r>
            <a:r>
              <a:rPr sz="1600" b="0" i="0">
                <a:solidFill>
                  <a:srgbClr val="E6EDF3"/>
                </a:solidFill>
                <a:latin typeface="Arial"/>
              </a:rPr>
              <a:t>: the pattern appeared on one soil map, not another (Nik)</a:t>
            </a:r>
          </a:p>
        </p:txBody>
      </p:sp>
      <p:pic>
        <p:nvPicPr>
          <p:cNvPr id="9" name="Picture 8" descr="soil_surv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1905000"/>
            <a:ext cx="6153150" cy="23645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0" y="4364767"/>
            <a:ext cx="6153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Josh's soil-layouts batch: 270 runs, 6 setups × 9 soil layouts × 5 soil seeds. Runs lasting 250,000 ticks.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Same starting species, different soil: survival ranges from 80% to 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Courier New"/>
              </a:rPr>
              <a:t>QUESTION 4 · INSTRUMENTAL FEATURES AND TRAITS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What made the difference</a:t>
            </a:r>
          </a:p>
        </p:txBody>
      </p:sp>
      <p:pic>
        <p:nvPicPr>
          <p:cNvPr id="5" name="Picture 4" descr="group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64" y="1333500"/>
            <a:ext cx="1009787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40055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Left: Tarique, soil removed per burrow. Middle: Nik, soil damage on vs off. Right: Jenna, plant regrowth (reference settings).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24400"/>
            <a:ext cx="121539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15D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5DE59"/>
                </a:solidFill>
                <a:latin typeface="Courier New"/>
              </a:rPr>
              <a:t>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67300"/>
            <a:ext cx="533400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400"/>
              </a:spcAft>
              <a:buClr>
                <a:srgbClr val="8B98A8"/>
              </a:buClr>
              <a:buFont typeface="Arial"/>
              <a:buChar char="•"/>
            </a:pPr>
            <a:r>
              <a:rPr sz="1500" b="1" i="0">
                <a:solidFill>
                  <a:srgbClr val="E6EDF3"/>
                </a:solidFill>
                <a:latin typeface="Arial"/>
              </a:rPr>
              <a:t>Soil damage per burrow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0 or 3 never collapses; 10 collapses half</a:t>
            </a: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Clr>
                <a:srgbClr val="8B98A8"/>
              </a:buClr>
              <a:buFont typeface="Arial"/>
              <a:buChar char="•"/>
            </a:pPr>
            <a:r>
              <a:rPr sz="1500" b="1" i="0">
                <a:solidFill>
                  <a:srgbClr val="E6EDF3"/>
                </a:solidFill>
                <a:latin typeface="Arial"/>
              </a:rPr>
              <a:t>Soil and plant regrowth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fast recovery rescues the world</a:t>
            </a: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Clr>
                <a:srgbClr val="8B98A8"/>
              </a:buClr>
              <a:buFont typeface="Arial"/>
              <a:buChar char="•"/>
            </a:pPr>
            <a:r>
              <a:rPr sz="1500" b="1" i="0">
                <a:solidFill>
                  <a:srgbClr val="E6EDF3"/>
                </a:solidFill>
                <a:latin typeface="Arial"/>
              </a:rPr>
              <a:t>Food blocking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without consumers, food chokes plant offspring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0" y="4724400"/>
            <a:ext cx="758190" cy="247650"/>
          </a:xfrm>
          <a:prstGeom prst="roundRect">
            <a:avLst>
              <a:gd name="adj" fmla="val 15000"/>
            </a:avLst>
          </a:prstGeom>
          <a:solidFill>
            <a:srgbClr val="0E1318"/>
          </a:solidFill>
          <a:ln w="95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6B35"/>
                </a:solidFill>
                <a:latin typeface="Courier New"/>
              </a:rPr>
              <a:t>TRAITS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5067300"/>
            <a:ext cx="529590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400"/>
              </a:spcAft>
              <a:buClr>
                <a:srgbClr val="8B98A8"/>
              </a:buClr>
              <a:buFont typeface="Arial"/>
              <a:buChar char="•"/>
            </a:pPr>
            <a:r>
              <a:rPr sz="1500" b="1" i="0">
                <a:solidFill>
                  <a:srgbClr val="FF6B35"/>
                </a:solidFill>
                <a:latin typeface="Arial"/>
              </a:rPr>
              <a:t>Claw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the trait that both saves and dooms</a:t>
            </a: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Clr>
                <a:srgbClr val="8B98A8"/>
              </a:buClr>
              <a:buFont typeface="Arial"/>
              <a:buChar char="•"/>
            </a:pPr>
            <a:r>
              <a:rPr sz="1500" b="1" i="0">
                <a:solidFill>
                  <a:srgbClr val="E6EDF3"/>
                </a:solidFill>
                <a:latin typeface="Arial"/>
              </a:rPr>
              <a:t>Eye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claw mutations often replace it; 11 of 12 clawed prey in one replay were blind and never burrowed</a:t>
            </a: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Clr>
                <a:srgbClr val="8B98A8"/>
              </a:buClr>
              <a:buFont typeface="Arial"/>
              <a:buChar char="•"/>
            </a:pPr>
            <a:r>
              <a:rPr sz="1500" b="1" i="0">
                <a:solidFill>
                  <a:srgbClr val="F82380"/>
                </a:solidFill>
                <a:latin typeface="Arial"/>
              </a:rPr>
              <a:t>Killer cell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turns clawed prey into predators;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hide length</a:t>
            </a:r>
            <a:r>
              <a:rPr sz="1500" b="0" i="0">
                <a:solidFill>
                  <a:srgbClr val="E6EDF3"/>
                </a:solidFill>
                <a:latin typeface="Arial"/>
              </a:rPr>
              <a:t>: at 30 ticks the claw never pays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A window of settings: predators strong enough to make burrowing pay, burrows damaging enough to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EVOLUTION FINDS LOOPHOLES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6EDF3"/>
                </a:solidFill>
                <a:latin typeface="Arial"/>
              </a:rPr>
              <a:t>When claws were free, </a:t>
            </a:r>
            <a:r>
              <a:rPr sz="3000" b="1" i="0">
                <a:solidFill>
                  <a:srgbClr val="FF6B35"/>
                </a:solidFill>
                <a:latin typeface="Arial"/>
              </a:rPr>
              <a:t>predators</a:t>
            </a:r>
            <a:r>
              <a:rPr sz="3000" b="1" i="0">
                <a:solidFill>
                  <a:srgbClr val="E6EDF3"/>
                </a:solidFill>
                <a:latin typeface="Arial"/>
              </a:rPr>
              <a:t> took them, and lost their eyes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33537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33537" y="190500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82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33537" y="238125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5412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7287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5298" y="2174557"/>
            <a:ext cx="33528" cy="14668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1662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9673" y="2174557"/>
            <a:ext cx="33528" cy="146685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" y="26860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2380"/>
                </a:solidFill>
                <a:latin typeface="Courier New"/>
              </a:rPr>
              <a:t>SEEDED PREDATOR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2895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6 cells · 11 food to breed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2250" y="203835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8B98A8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225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5350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82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9100" y="2143125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7225" y="190500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67225" y="2381250"/>
            <a:ext cx="209550" cy="20955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68605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6B35"/>
                </a:solidFill>
                <a:latin typeface="Courier New"/>
              </a:rPr>
              <a:t>EYELESS CLAWED PREDATOR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895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5 cells · 4 food to breed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333750"/>
            <a:ext cx="6096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Arial"/>
              </a:rPr>
              <a:t>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free claw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adds lifespan and health but costs no food, so predators keep them; none ever burrowed.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Arial"/>
              </a:rPr>
              <a:t>Mouths are useless to predators and eyes cost food: 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cheap random walker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breeding ~3× as often beats a hunter.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Arial"/>
              </a:rPr>
              <a:t>It came to dominate some worlds on its own: selection optimises the rules, not the design.</a:t>
            </a:r>
          </a:p>
        </p:txBody>
      </p:sp>
      <p:pic>
        <p:nvPicPr>
          <p:cNvPr id="24" name="Picture 23" descr="predator_cl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1905000"/>
            <a:ext cx="4533900" cy="24324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48500" y="4432670"/>
            <a:ext cx="453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Arial"/>
              </a:rPr>
              <a:t>Share of predators carrying claws late in the runs, across 9 soil layouts. Claw-off: claws cost food.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>Eyeless predator layout is illustrative; its cells (mover, killer, 3 claws) are from the species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ANSWERS TO 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In four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524000"/>
            <a:ext cx="47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6B35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250" y="1524000"/>
            <a:ext cx="10344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DF3"/>
                </a:solidFill>
                <a:latin typeface="Arial"/>
              </a:rPr>
              <a:t>Did an extinction event occur?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1847850"/>
            <a:ext cx="103441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D3DD"/>
                </a:solidFill>
                <a:latin typeface="Arial"/>
              </a:rPr>
              <a:t>Yes: whole worlds, prey populations and lineages went extinct in a large share of runs.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600" y="2571750"/>
            <a:ext cx="1097280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2686050"/>
            <a:ext cx="47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6B35"/>
                </a:solidFill>
                <a:latin typeface="Courier New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2686050"/>
            <a:ext cx="10344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DF3"/>
                </a:solidFill>
                <a:latin typeface="Arial"/>
              </a:rPr>
              <a:t>Mis-adaptation or failure to adapt?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3009900"/>
            <a:ext cx="103441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D3DD"/>
                </a:solidFill>
                <a:latin typeface="Arial"/>
              </a:rPr>
              <a:t>Mostly failure to adapt, as the first predator wave struck before the claw spread. When the claw had time, it was a mis-adaptation: favoured for hiding, fatal through the soil it destroyed.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3733800"/>
            <a:ext cx="1097280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3848100"/>
            <a:ext cx="47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6B35"/>
                </a:solidFill>
                <a:latin typeface="Courier New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3848100"/>
            <a:ext cx="10344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DF3"/>
                </a:solidFill>
                <a:latin typeface="Arial"/>
              </a:rPr>
              <a:t>Environment vs the initial seeded species?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4171950"/>
            <a:ext cx="103441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D3DD"/>
                </a:solidFill>
                <a:latin typeface="Arial"/>
              </a:rPr>
              <a:t>The seeded predators decide whether burrowers get a chance; soil and plant recovery decide whether the burrowers then destroy themselves.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" y="4895850"/>
            <a:ext cx="10972800" cy="0"/>
          </a:xfrm>
          <a:prstGeom prst="line">
            <a:avLst/>
          </a:prstGeom>
          <a:ln>
            <a:solidFill>
              <a:srgbClr val="22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600" y="5010150"/>
            <a:ext cx="47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6B35"/>
                </a:solidFill>
                <a:latin typeface="Courier New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5010150"/>
            <a:ext cx="10344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DF3"/>
                </a:solidFill>
                <a:latin typeface="Arial"/>
              </a:rPr>
              <a:t>Instrumental features and traits?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5334000"/>
            <a:ext cx="103441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D3DD"/>
                </a:solidFill>
                <a:latin typeface="Arial"/>
              </a:rPr>
              <a:t>Soil damage per burrow, soil and plant regrowth, food blocking; the claw, the eye it replaces, and the killer cell that turns prey into predators.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888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B7888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762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DF3"/>
                </a:solidFill>
                <a:latin typeface="Arial"/>
              </a:rPr>
              <a:t>What we can't claim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19250"/>
            <a:ext cx="5295900" cy="36195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1809750"/>
            <a:ext cx="487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6EDF3"/>
                </a:solidFill>
                <a:latin typeface="Arial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209800"/>
            <a:ext cx="4876800" cy="295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10–40 runs per setup: differences of 2–3 runs could be chance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Studies used slightly different settings and grids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Collapse rate depends on behaviour settings: with "burrow only when a predator is close" on, evolved claws collapsed 2 of 20 worlds here, against 21 of 40 in Tarique's runs with it off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Proximate cause of death is mostly predation; the soil acts by stopping plants recovering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1619250"/>
            <a:ext cx="5295900" cy="361950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9525">
            <a:solidFill>
              <a:srgbClr val="22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6050" y="1809750"/>
            <a:ext cx="487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6EDF3"/>
                </a:solidFill>
                <a:latin typeface="Arial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2209800"/>
            <a:ext cx="4876800" cy="295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Measure fitness of clawed vs clawless prey </a:t>
            </a:r>
            <a:r>
              <a:rPr sz="1600" b="1" i="0">
                <a:solidFill>
                  <a:srgbClr val="E6EDF3"/>
                </a:solidFill>
                <a:latin typeface="Arial"/>
              </a:rPr>
              <a:t>during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a decline: does selection still favour the claw?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Replay suspected suicides with and without the invading predator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Close the free-claw loophole for predators</a:t>
            </a:r>
          </a:p>
          <a:p>
            <a:pPr marL="171450" indent="-171450">
              <a:lnSpc>
                <a:spcPct val="112000"/>
              </a:lnSpc>
              <a:spcAft>
                <a:spcPts val="800"/>
              </a:spcAft>
              <a:buClr>
                <a:srgbClr val="8B98A8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Arial"/>
              </a:rPr>
              <a:t>More soil maps per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8A6A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A88A6A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_s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1239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DE59"/>
                </a:solidFill>
                <a:latin typeface="Courier New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90650"/>
            <a:ext cx="666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E6EDF3"/>
                </a:solidFill>
                <a:latin typeface="Courier New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47900"/>
            <a:ext cx="7810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9D3DD"/>
                </a:solidFill>
                <a:latin typeface="Arial"/>
              </a:rPr>
              <a:t>Built on The Life Engine by Max Robinson, extended with soil fertility, burrowing claws, role tagging, seeded run setup and a headless experiment runner.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90900"/>
            <a:ext cx="8191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8A8"/>
                </a:solidFill>
                <a:latin typeface="Arial"/>
              </a:rPr>
              <a:t>References: Gyllenberg, M. &amp; Parvinen, K. (2001). Necessary and sufficient conditions for evolutionary suicide. </a:t>
            </a:r>
            <a:r>
              <a:rPr sz="1400" b="0" i="1">
                <a:solidFill>
                  <a:srgbClr val="8B98A8"/>
                </a:solidFill>
                <a:latin typeface="Arial"/>
              </a:rPr>
              <a:t>Bulletin of Mathematical Biology</a:t>
            </a:r>
            <a:r>
              <a:rPr sz="1400" b="0" i="0">
                <a:solidFill>
                  <a:srgbClr val="8B98A8"/>
                </a:solidFill>
                <a:latin typeface="Arial"/>
              </a:rPr>
              <a:t> 63, 981–993. · Rankin, D. J. &amp; López-Sepulcre, A. (2005). Can adaptation lead to extinction? </a:t>
            </a:r>
            <a:r>
              <a:rPr sz="1400" b="0" i="1">
                <a:solidFill>
                  <a:srgbClr val="8B98A8"/>
                </a:solidFill>
                <a:latin typeface="Arial"/>
              </a:rPr>
              <a:t>Oikos</a:t>
            </a:r>
            <a:r>
              <a:rPr sz="1400" b="0" i="0">
                <a:solidFill>
                  <a:srgbClr val="8B98A8"/>
                </a:solidFill>
                <a:latin typeface="Arial"/>
              </a:rPr>
              <a:t> 111, 616–619. · Hardin, G. (1968). The tragedy of the commons. </a:t>
            </a:r>
            <a:r>
              <a:rPr sz="1400" b="0" i="1">
                <a:solidFill>
                  <a:srgbClr val="8B98A8"/>
                </a:solidFill>
                <a:latin typeface="Arial"/>
              </a:rPr>
              <a:t>Science</a:t>
            </a:r>
            <a:r>
              <a:rPr sz="1400" b="0" i="0">
                <a:solidFill>
                  <a:srgbClr val="8B98A8"/>
                </a:solidFill>
                <a:latin typeface="Arial"/>
              </a:rPr>
              <a:t> 162, 1243–1248.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476375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6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25075" y="1476375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B6C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7089" y="1516380"/>
            <a:ext cx="42672" cy="186689"/>
          </a:xfrm>
          <a:prstGeom prst="rect">
            <a:avLst/>
          </a:prstGeom>
          <a:solidFill>
            <a:srgbClr val="0E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29800" y="1181100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34525" y="1476375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1771650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06150" y="1476375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DE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01425" y="1771650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15D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10875" y="1181100"/>
            <a:ext cx="266700" cy="266700"/>
          </a:xfrm>
          <a:prstGeom prst="roundRect">
            <a:avLst>
              <a:gd name="adj" fmla="val 14000"/>
            </a:avLst>
          </a:prstGeom>
          <a:solidFill>
            <a:srgbClr val="15D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5913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8A6A"/>
                </a:solidFill>
                <a:latin typeface="Arial"/>
              </a:rPr>
              <a:t>Reports: Burrowing Into Extinction (Tarique) · Soil study (Nik) · Plant regrowth (Jenna) · Claw evolution and soil layouts (Josh)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9130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A88A6A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